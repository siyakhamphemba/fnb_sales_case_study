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Calibri"/>
              </a:rPr>
              <a:t>Price Drop vs. Quantity Change by Promotion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Drop 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Dec 2014</c:v>
                  </c:pt>
                  <c:pt idx="1">
                    <c:v>Jul 2015</c:v>
                  </c:pt>
                  <c:pt idx="2">
                    <c:v>Jan 2016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-17.3</c:v>
                </c:pt>
                <c:pt idx="1">
                  <c:v>-19.8</c:v>
                </c:pt>
                <c:pt idx="2">
                  <c:v>-15.6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Qty Change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Dec 2014</c:v>
                  </c:pt>
                  <c:pt idx="1">
                    <c:v>Jul 2015</c:v>
                  </c:pt>
                  <c:pt idx="2">
                    <c:v>Jan 2016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</c:v>
                </c:pt>
                <c:pt idx="1">
                  <c:v>41.6</c:v>
                </c:pt>
                <c:pt idx="2">
                  <c:v>22.6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F63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Calibri"/>
              </a:rPr>
              <a:t>Top 5 Months by Revenue (R)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 '14</c:v>
                  </c:pt>
                  <c:pt idx="1">
                    <c:v>May '15</c:v>
                  </c:pt>
                  <c:pt idx="2">
                    <c:v>Aug '15</c:v>
                  </c:pt>
                  <c:pt idx="3">
                    <c:v>Dec '14</c:v>
                  </c:pt>
                  <c:pt idx="4">
                    <c:v>Jul '16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7245000</c:v>
                </c:pt>
                <c:pt idx="1">
                  <c:v>6890000</c:v>
                </c:pt>
                <c:pt idx="2">
                  <c:v>6540000</c:v>
                </c:pt>
                <c:pt idx="3">
                  <c:v>6230000</c:v>
                </c:pt>
                <c:pt idx="4">
                  <c:v>6110000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Calibri"/>
              </a:rPr>
              <a:t>Average Daily Sales by Weekday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(R)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138171</c:v>
                </c:pt>
                <c:pt idx="1">
                  <c:v>156313</c:v>
                </c:pt>
                <c:pt idx="2">
                  <c:v>137315</c:v>
                </c:pt>
                <c:pt idx="3">
                  <c:v>145891</c:v>
                </c:pt>
                <c:pt idx="4">
                  <c:v>141085</c:v>
                </c:pt>
                <c:pt idx="5">
                  <c:v>245314</c:v>
                </c:pt>
                <c:pt idx="6">
                  <c:v>279047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Calibri"/>
              </a:rPr>
              <a:t>Revenue Share by Price Category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Budget</c:v>
                  </c:pt>
                  <c:pt idx="1">
                    <c:v>Mid-Range</c:v>
                  </c:pt>
                  <c:pt idx="2">
                    <c:v>Premium</c:v>
                  </c:pt>
                  <c:pt idx="3">
                    <c:v>Luxury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35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Calibri"/>
              </a:rPr>
              <a:t>Elasticity by Promotional Period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Elasticity</c:v>
                </c:pt>
              </c:strCache>
            </c:strRef>
          </c:tx>
          <c:spPr>
            <a:solidFill>
              <a:srgbClr val="C62828"/>
            </a:solidFill>
            <a:ln w="3175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Dec 2014</c:v>
                  </c:pt>
                  <c:pt idx="1">
                    <c:v>Jul 2015</c:v>
                  </c:pt>
                  <c:pt idx="2">
                    <c:v>Jan 2016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-1.85</c:v>
                </c:pt>
                <c:pt idx="1">
                  <c:v>-2.1</c:v>
                </c:pt>
                <c:pt idx="2">
                  <c:v>-1.45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12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10164D"/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663440"/>
            <a:ext cx="3840480" cy="3840480"/>
          </a:xfrm>
          <a:prstGeom prst="ellipse">
            <a:avLst/>
          </a:prstGeom>
          <a:solidFill>
            <a:srgbClr val="10164D"/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58521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48640"/>
            <a:ext cx="274320" cy="274320"/>
          </a:xfrm>
          <a:prstGeom prst="ellipse">
            <a:avLst/>
          </a:prstGeom>
          <a:solidFill>
            <a:srgbClr val="F4D35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FNB SALES CASE STUDY ANALYSIS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88636" y="3364992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52044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 Retail Sales Optimization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performance snapshot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0FA"/>
          </a:solidFill>
          <a:ln/>
          <a:effectLst>
            <a:outerShdw sx="100000" sy="100000" kx="0" ky="0" algn="bl" rotWithShape="0" blurRad="76200" dist="25400" dir="5400000">
              <a:srgbClr val="1A237E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2704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R186.91M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06624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0FA"/>
          </a:solidFill>
          <a:ln/>
          <a:effectLst>
            <a:outerShdw sx="100000" sy="100000" kx="0" ky="0" algn="bl" rotWithShape="0" blurRad="76200" dist="25400" dir="5400000">
              <a:srgbClr val="1A237E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06624" y="152704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5.28M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06624" y="24505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56048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0FA"/>
          </a:solidFill>
          <a:ln/>
          <a:effectLst>
            <a:outerShdw sx="100000" sy="100000" kx="0" ky="0" algn="bl" rotWithShape="0" blurRad="76200" dist="25400" dir="5400000">
              <a:srgbClr val="1A237E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8" y="152704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R37.25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56048" y="24505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 Price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05472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0FA"/>
          </a:solidFill>
          <a:ln/>
          <a:effectLst>
            <a:outerShdw sx="100000" sy="100000" kx="0" ky="0" algn="bl" rotWithShape="0" blurRad="76200" dist="25400" dir="5400000">
              <a:srgbClr val="1A237E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05472" y="152704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-3.81%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05472" y="24505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54896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0FA"/>
          </a:solidFill>
          <a:ln/>
          <a:effectLst>
            <a:outerShdw sx="100000" sy="100000" kx="0" ky="0" algn="bl" rotWithShape="0" blurRad="76200" dist="25400" dir="5400000">
              <a:srgbClr val="1A237E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54896" y="1527048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54896" y="24505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3739896"/>
            <a:ext cx="102595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margins (-3.81%) require immediate pricing action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2569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288536"/>
            <a:ext cx="102595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is ELASTIC — promotions reliably drive sales growth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974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837176"/>
            <a:ext cx="102595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the best-performing day, averaging R245K in daily sales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 and descriptive statistics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Dec 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Nov 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325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Daily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R20,495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Daily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R846,678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Daily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R176,829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Units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Units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Units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Calculated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pricing and profitability calculations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Unit Price (Last 5 Trading Days)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2016-11-16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2016-11-15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2016-11-14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2016-11-13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2016-11-12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69164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EEF0FA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691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Price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92640" y="1691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R37.25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2624328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EEF0FA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62432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92640" y="262432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-3.81%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3557016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EEF0FA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355701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Per Unit 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92640" y="355701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-0.88%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09360" y="4489704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EEF0FA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44897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92640" y="4489704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-1.80 (ELASTIC)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Promotional Periods:  Dec 2014  •  Jul 2015  •  Jan 2016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Promotional Periods &amp; Elasticity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reductions and their impact on volume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2014-12-25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2015-01-05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- GOOD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2015-07-25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2015-08-10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- GOOD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2016-01-15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2016-01-28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- GOOD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57200" y="3063240"/>
          <a:ext cx="11247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months and seasonal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1188720"/>
                <a:gridCol w="1371600"/>
                <a:gridCol w="1188720"/>
                <a:gridCol w="4572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R7,245,000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R233,710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R6,890,000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R222,258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R6,540,000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R210,968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R6,230,000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R200,968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R6,110,000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R197,097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309360" y="137160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Insights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02920" y="524865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758952" y="5111496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March, May, August (Summer months)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5660136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758952" y="5522976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January, November (Post-holiday)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607161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9"/>
          <p:cNvSpPr/>
          <p:nvPr/>
        </p:nvSpPr>
        <p:spPr>
          <a:xfrm>
            <a:off x="758952" y="5934456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also performs strongly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of Week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demand significantly outpaces weekdays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GP%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R138,171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R156,313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R137,315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R145,891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R141,085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R245,314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R279,047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126480" y="137160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Saturday and Sunday are the best-performing days, with Saturday averaging R245K in daily sales.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Category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and margin by pricing tier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0584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GP%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R18.50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R46.7M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R28.00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R65.4M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R38.50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R56.1M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R48.00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R18.7M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217920" y="137160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The Budget category delivers the best margins (-3.2% GP), while Luxury erodes profitability most (-8.5% GP).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promotional period showed elastic demand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18872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217920" y="137160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297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Elasticity:  -1.80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02920" y="538581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6"/>
          <p:cNvSpPr/>
          <p:nvPr/>
        </p:nvSpPr>
        <p:spPr>
          <a:xfrm>
            <a:off x="758952" y="5248656"/>
            <a:ext cx="10716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elasticities are below -1, confirming the product is ELASTIC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575157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8"/>
          <p:cNvSpPr/>
          <p:nvPr/>
        </p:nvSpPr>
        <p:spPr>
          <a:xfrm>
            <a:off x="758952" y="5614416"/>
            <a:ext cx="10716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effectively drive sales volume growth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6117336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4" name="Text 10"/>
          <p:cNvSpPr/>
          <p:nvPr/>
        </p:nvSpPr>
        <p:spPr>
          <a:xfrm>
            <a:off x="758952" y="5980176"/>
            <a:ext cx="10716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impact observed in July 2015 (-2.10 elasticity)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 of the three-year analysis period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R186.91M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-R7.12M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GP%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Unit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Dec 2013 - 16 Nov 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3640" y="1911096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8" name="Text 5"/>
          <p:cNvSpPr/>
          <p:nvPr/>
        </p:nvSpPr>
        <p:spPr>
          <a:xfrm>
            <a:off x="6519672" y="1773936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R186.91M over 3 years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251460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6519672" y="2377440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margins (-3.81%) - pricing action needed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6519672" y="2980944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best day (R245K avg sales)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372160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6519672" y="3584448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and Summer months are peak seasons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63640" y="432511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6519672" y="4187952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ELASTIC (promotions work)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4928616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6519672" y="4791456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category has best margins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 to restore profitability and grow revenue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383280"/>
                <a:gridCol w="374904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Base Price by 10-15%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is elastic; negative margins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margins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Targeted Promotions in Peak Seasons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performs well on promotion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Marketing on Saturdays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performing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Maximize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Cost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margins need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profitability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Budget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margins than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profit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 Bundling Strategies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average transaction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   |   July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1712" y="3657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9377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Revenue: R186.91M over 3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Price: R37.25 per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GP%: Negative (-3.81%) - requires pricing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Day: Saturday (R245K avg sales)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Month: December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Elasticity: -1.80 (ELASTIC - promotions 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029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price increase (10-15%)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targeted marketing campaigns for Saturdays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seasonal promotions in December &amp; Summer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cost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elasticity trends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44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12700">
            <a:solidFill>
              <a:srgbClr val="3B449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Siyakha Ntuli   |   Date: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2026-08-01T02:15:49Z</dcterms:created>
  <dcterms:modified xsi:type="dcterms:W3CDTF">2026-08-01T02:15:49Z</dcterms:modified>
</cp:coreProperties>
</file>